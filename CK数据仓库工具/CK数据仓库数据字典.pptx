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CK数据仓库数据字典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Data Warehouse Dictionary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91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</a:rPr>
              <a:t>数据表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3699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</a:rPr>
              <a:t>字段总数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3776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6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</a:rPr>
              <a:t>数据层级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94944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10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</a:rPr>
              <a:t>调度工作流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数据分层架构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371600" cy="1463040"/>
          </a:xfrm>
          <a:prstGeom prst="roundRect">
            <a:avLst>
              <a:gd name="adj" fmla="val 5333"/>
            </a:avLst>
          </a:prstGeom>
          <a:solidFill>
            <a:srgbClr val="B2BEC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NC源系统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1188720"/>
            <a:ext cx="1371600" cy="1463040"/>
          </a:xfrm>
          <a:prstGeom prst="roundRect">
            <a:avLst>
              <a:gd name="adj" fmla="val 5333"/>
            </a:avLst>
          </a:prstGeom>
          <a:solidFill>
            <a:srgbClr val="B2BEC3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贴源层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1371600" cy="1463040"/>
          </a:xfrm>
          <a:prstGeom prst="roundRect">
            <a:avLst>
              <a:gd name="adj" fmla="val 5333"/>
            </a:avLst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1188720"/>
            <a:ext cx="1371600" cy="146304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明细层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92240" y="1188720"/>
            <a:ext cx="1371600" cy="146304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095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46720" y="1188720"/>
            <a:ext cx="1371600" cy="1463040"/>
          </a:xfrm>
          <a:prstGeom prst="roundRect">
            <a:avLst>
              <a:gd name="adj" fmla="val 5333"/>
            </a:avLst>
          </a:prstGeom>
          <a:solidFill>
            <a:srgbClr val="00B894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4672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1张表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38328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2880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8张表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74904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288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38张表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11480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34张表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48056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82880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8张表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84632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46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828800" y="4846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2张表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血缘关系总览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财务数据流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gl_balance → dwd_gl_balance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87452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库存数据流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ia_detailledger → ods → dwd_ic_flow → dws_ia_material_day_stock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651760"/>
            <a:ext cx="54864" cy="6400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销售利润流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so_saleorder → dwd_so_saleorder → dwd_so_profit → ads_sales_profit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429000"/>
            <a:ext cx="54864" cy="6400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维度表流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NC维表 → dim_material/dim_client/dim_supplier...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206240"/>
            <a:ext cx="54864" cy="64008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帆软数据流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FR填报表 → dwd_fin_* → rpt_forecast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DIM维度层 — 38张表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4023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表名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dim_bd_custsale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客户销售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dim_bd_custsale_dict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dim_bd_defdoc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基础档案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dim_bd_defdoc_dict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dim_bd_defdoc_uat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dim_bd_defdoc_uat_dict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dim_bd_defdoclist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档案目录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dim_bd_defdoclist_dict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dim_client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客户主数据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dim_client_dict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dim_client_dict2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dim_fact_row_price_snap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行价格快照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dim_formula_product_day_snap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配方产品日快照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dim_formula_product_dict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dim_formula_product_dict3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dim_formula_product_dictpack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dim_formula_product_snap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配方产品快照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dim_fx_client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dim_fx_organization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dim_fx_organization_dict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dim_fx_organization_dict_parent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dim_ia_material_snap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dim_material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物料主数据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dim_material_dict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dim_material_dict2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dim_material_rd45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RD45物料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dim_material_uat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UAT物料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dim_material_uat_dict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dim_row_product_snap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行产品快照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dim_stordoc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仓库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dim_stordoc_dict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dim_supplier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供应商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dim_supplier_dict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dim_supplier_dict2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dim_unit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计量单位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dim_unit_dict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dim_unit_dict2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v_dim_client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DWD明细层 — 34张表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40233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表名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dwd_cust_rebate_actual_m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客户返利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dwd_fact_product_inbound_snap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dwd_fact_product_sale_snap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dwd_fin_budget_detail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财务预算明细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dwd_fin_budgetmth_detail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dwd_fin_budgetmth_detail_fx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dwd_fin_gross_profit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毛利配置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dwd_fin_net_profit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dwd_fin_net_profitmth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dwd_fin_profit_detail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财务利润明细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dwd_fin_profitmth_detail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dwd_fx_checkinsobj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dwd_fx_demonstration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dwd_fx_marketingeventobj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dwd_gl_balance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总账科目余额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dwd_ia_monthnab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库存月度结存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dwd_ia_monthnab_adjust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dwd_ia_monthnab_snap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dwd_ic_flow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库存流水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dwd_ic_flow_adjust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dwd_ic_flow_rd45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dwd_oa_cg_wlbj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dwd_plcy_discount_detail_ysnap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dwd_po_order_detail_all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采购订单明细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dwd_price_maintenance_snap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dwd_prm_promoteprice_detail_ysnap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dwd_product_subject_cost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dwd_so_cost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销售成本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dwd_so_priceform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dwd_so_profit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销售利润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dwd_so_profit_old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dwd_so_saleorder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销售订单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v_dwd_po_order_detail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v_dwd_so_saleorder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核心表: ads_sales_profit_contribution_snap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297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d_region_name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所属区域名称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d_corp_id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公司ID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d_corp_code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公司编码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d_corp_name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公司名称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d_town_id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所属乡镇ID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d_town_name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所属乡镇名称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d_client_id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客户ID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d_client_code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客户编码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d_client_name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客户名称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d_class_code2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产品二级分类编码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d_class_name2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产品二级分类名称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d_class_code4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产品四级分类编码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d_class_name4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产品四级分类名称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d_class_code6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产品六级分类编码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d_class_name6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产品六级分类名称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d_product_id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产品ID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d_product_code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产品编码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d_product_name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产品名称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d_measure_name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计量单位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d_formula_id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配方ID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4297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d_formula_code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配方编码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d_formula_name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配方名称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f_sale_qty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本月销量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f_sale_gift_qty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本月赠送数量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f_rebate_qty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本月返利数量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f_list_sale_amt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本月挂牌销售金额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f_sale_amt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本月实际销售金额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f_discount_amt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本月总折扣金额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f_base_discount_amt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本月基础折扣金额（负转正）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f_prm_discount_amt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本月促销折扣金额（负转正）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f_rebate_amt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本月返利金额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f_cost_amt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本月成本金额（含赠送）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f_list_sale_ton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本月单吨挂牌价 = 挂牌金额 / 销量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f_discount_ton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本月单吨总折扣 = 折扣金额 / 销量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f_base_discount_ton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本月单吨基础折扣 = 基础折扣 / 销量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f_prm_discount_ton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本月单吨促销折扣 = 促销折扣 / 销量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f_rebate_ton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本月单吨返利 = 返利金额 / 返利数量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f_gift_cost_ton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本月买赠成本 = (制造+材料成本)*赠送数量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f_total_dicount_ton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本月单吨总折扣 = 买赠+返利+现金折扣（加权）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f_sale_qty_year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今年累计销量（1-本月）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核心表: dwd_so_saleorder (192字段)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297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order_id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销售订单主表主键（csaleorderid）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order_uid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销售订单行唯一主键（csaleorderbid）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order_row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销售订单行号（crowno）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d_bill_code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单据编号（vbillcode）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is_gift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是否赠品：Y/N（blargessflag）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bill_ts_char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单据日期字符（b.dbilldate）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bill_ts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单据时间（物化）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bill_date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单据日期（物化）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d_client_id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客户主键（ccustomerid）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d_client_code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客户编码（bd_customer.code）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d_client_name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客户名称（bd_customer.name）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d_salesman_id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业务员主键（cemployeeid）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d_salesman_code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业务员编码（bd_psndoc.code）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d_salesman_name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业务员姓名（bd_psndoc.name）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d_region_id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所属大区主键（vdef5）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d_corp_id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销售组织主键（pk_org）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d_corp_vid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销售组织版本主键（pk_org_v）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d_corp_code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销售组织编码（org_corp.code）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d_corp_name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销售组织名称（org_corp.name）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d_corp_sname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销售组织简称（org_corp.shortname）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4297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d_dept_vid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部门版本主键（cdeptvid）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d_dept_id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部门主键（cdeptid）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d_dept_code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部门编码（org_dept_v.code）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d_dept_name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部门名称（org_dept_v.name）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d_stock_corp_id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发货仓库所属组织主键（csendstockorgid）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d_stock_corp_code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发货仓库组织编码（org_stockorg.code）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d_stock_corp_name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发货仓库组织名称（org_stockorg.name）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d_stock_id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发货仓库主键（csendstordocid）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d_stock_code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发货仓库编码（bd_stordoc.code）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d_stock_name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发货仓库名称（bd_stordoc.name）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d_salaera_id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销售区域主键（vdef4）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d_town_id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聚焦镇主键（vdef3）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d_town_code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聚焦镇编码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d_town_name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聚焦镇名称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supply_time_id_vdef11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供货时效主键（vdef11）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supply_time_name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供货时效名称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delivery_id_vbdef19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提货方式主键（vbdef19）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delivery_name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提货方式名称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strategy_id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战略分类主键（5+2，高价值产品，bd_material.def1）</a:t>
            </a:r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</a:rPr>
              <a:t>strategy_name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36E72"/>
                </a:solidFill>
              </a:rPr>
              <a:t>战略分类名称（5+2，高价值产品）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DWS汇总层 — 8张表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4023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表名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dws_cust_rebate_actual_m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客户返利汇总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dws_formula_product_day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配方产品日汇总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dws_fr_cg_kcgzb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帆软采购库存报表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dws_ia_material_day_stock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物料日库存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dws_oa_cg_wlbj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OA采购物料报表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dws_product_subject_cost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产品科目成本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dws_sal_so_saleorder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销售订单汇总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dws_so_costsharing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销售成本分摊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调度工作流与表的关系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566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工作流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描述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产出表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4job-nc_fin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nc财务数据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dwd_gl_balance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1job-nc_sal_profit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nc销售利润数据流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dws_oa_cg_wlbj, dwd_oa_cg_wlbj, dwd_fact_product_inbound_snap, dwd_plcy_discount_detail_ysnap, dws_fr_cg_kcgzb...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2-2sub-dws_ia_material_day_stock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物料日库存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dws_ia_material_day_stock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2-1job-dwd_ia_monthnab_snap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库存月度结存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dwd_ia_monthnab_adjust, dwd_ia_monthnab, dwd_ia_monthnab_snap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1-1job-dwd_so_saleorder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销量销售额折扣成本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dwd_product_subject_cost, dwd_so_cost, dwd_so_priceform , dws_product_subject_cost, dws_so_costsharing...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0dim-table_1h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核心维度表1h抽取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dim_bd_defdoc, dim_bd_defdoclist, dim_unit, dim_stordoc, dim_supplier...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2job-nc_stock_1h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nc伪实时库存1h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dwd_ic_flow_adjust, dwd_ic_flow, ods_ia_detailledger, dwd_po_order_detail_all, dwd_ic_flow_rd45...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3job-FRdata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帆软数据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dwd_fin_profitmth_detail, dwd_fin_budget_detail, dwd_fin_profit_detail, tb_guidance_price, dwd_fin_budgetmth_detail...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1-2job-dim_formula_product_snap_1w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配方产品周快照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dim_row_product_snap, dim_formula_product_snap, uf_formula_product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统计汇总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45920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表数量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字段总数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其他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CK数据仓库数据字典</dc:title>
  <dc:subject>PptxGenJS Presentation</dc:subject>
  <dc:creator>CaiQingsong</dc:creator>
  <cp:lastModifiedBy>CaiQingsong</cp:lastModifiedBy>
  <cp:revision>1</cp:revision>
  <dcterms:created xsi:type="dcterms:W3CDTF">2026-05-18T08:48:16Z</dcterms:created>
  <dcterms:modified xsi:type="dcterms:W3CDTF">2026-05-18T08:48:16Z</dcterms:modified>
</cp:coreProperties>
</file>